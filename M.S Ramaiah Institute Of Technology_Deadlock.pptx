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74" r:id="rId2"/>
    <p:sldId id="375" r:id="rId3"/>
    <p:sldId id="257" r:id="rId4"/>
    <p:sldId id="376" r:id="rId5"/>
    <p:sldId id="385" r:id="rId6"/>
    <p:sldId id="377" r:id="rId7"/>
    <p:sldId id="384" r:id="rId8"/>
    <p:sldId id="386" r:id="rId9"/>
    <p:sldId id="387" r:id="rId10"/>
    <p:sldId id="378" r:id="rId11"/>
    <p:sldId id="379" r:id="rId12"/>
    <p:sldId id="380" r:id="rId13"/>
    <p:sldId id="382" r:id="rId14"/>
    <p:sldId id="38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1" autoAdjust="0"/>
    <p:restoredTop sz="94660"/>
  </p:normalViewPr>
  <p:slideViewPr>
    <p:cSldViewPr snapToGrid="0">
      <p:cViewPr varScale="1">
        <p:scale>
          <a:sx n="82" d="100"/>
          <a:sy n="82" d="100"/>
        </p:scale>
        <p:origin x="4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BAFF0E-449D-426B-83E6-7E557F3BCD7F}"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08953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40032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RoopinNayak/Stock-Master-Sentinel/tree/main"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hyperlink" Target="https://youtu.be/nqIp8znYzdo" TargetMode="External"/><Relationship Id="rId4" Type="http://schemas.openxmlformats.org/officeDocument/2006/relationships/hyperlink" Target="https://github.com/RoopinNayak/Stock-Master-Sentinel/blob/main/OpenClaw_AI_Disclosure%20(1).docx"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137355" y="1160331"/>
            <a:ext cx="7504917" cy="6217087"/>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M.S Ramaiah Institute Of </a:t>
            </a:r>
            <a:r>
              <a:rPr lang="en-US" sz="3600" b="1" dirty="0" err="1">
                <a:solidFill>
                  <a:srgbClr val="E81B25"/>
                </a:solidFill>
                <a:latin typeface="Berlin Sans FB Demi" panose="020E0802020502020306" pitchFamily="34" charset="0"/>
                <a:ea typeface="SamsungOne 800" panose="020B0903030303020204" pitchFamily="34" charset="0"/>
              </a:rPr>
              <a:t>Technology_Deadlock</a:t>
            </a:r>
            <a:endParaRPr lang="en-US" sz="3600" b="1" dirty="0">
              <a:solidFill>
                <a:srgbClr val="E81B25"/>
              </a:solidFill>
              <a:latin typeface="Berlin Sans FB Demi" panose="020E0802020502020306" pitchFamily="34" charset="0"/>
              <a:ea typeface="SamsungOne 800" panose="020B0903030303020204" pitchFamily="34" charset="0"/>
            </a:endParaRPr>
          </a:p>
          <a:p>
            <a:pPr algn="ctr"/>
            <a:endParaRPr lang="en-US" sz="3600" b="1" dirty="0">
              <a:solidFill>
                <a:srgbClr val="E81B25"/>
              </a:solidFill>
              <a:latin typeface="Berlin Sans FB Demi" panose="020E0802020502020306" pitchFamily="34" charset="0"/>
              <a:ea typeface="SamsungOne 800" panose="020B0903030303020204" pitchFamily="34" charset="0"/>
            </a:endParaRPr>
          </a:p>
          <a:p>
            <a:pPr algn="ctr"/>
            <a:r>
              <a:rPr lang="en-US" sz="3200" b="1" dirty="0">
                <a:solidFill>
                  <a:srgbClr val="E81B25"/>
                </a:solidFill>
                <a:latin typeface="Berlin Sans FB Demi" panose="020E0802020502020306" pitchFamily="34" charset="0"/>
                <a:ea typeface="SamsungOne 800" panose="020B0903030303020204" pitchFamily="34" charset="0"/>
              </a:rPr>
              <a:t>"StockMaster Sentinel" — An Autonomous Inventory Intelligence Agent</a:t>
            </a:r>
          </a:p>
          <a:p>
            <a:pPr algn="ctr"/>
            <a:endParaRPr lang="en-US" b="1" dirty="0">
              <a:solidFill>
                <a:srgbClr val="E81B25"/>
              </a:solidFill>
              <a:latin typeface="Berlin Sans FB Demi" panose="020E0802020502020306" pitchFamily="34" charset="0"/>
              <a:ea typeface="SamsungOne 800" panose="020B0903030303020204" pitchFamily="34" charset="0"/>
            </a:endParaRPr>
          </a:p>
          <a:p>
            <a:pPr algn="ctr"/>
            <a:r>
              <a:rPr lang="en-US" sz="2400" b="1" dirty="0">
                <a:solidFill>
                  <a:schemeClr val="tx2"/>
                </a:solidFill>
                <a:latin typeface="Berlin Sans FB Demi" panose="020E0802020502020306" pitchFamily="34" charset="0"/>
                <a:ea typeface="SamsungOne 800" panose="020B0903030303020204" pitchFamily="34" charset="0"/>
              </a:rPr>
              <a:t>Anoushka Paul</a:t>
            </a:r>
          </a:p>
          <a:p>
            <a:pPr algn="ctr"/>
            <a:r>
              <a:rPr lang="en-US" sz="2400" b="1" dirty="0">
                <a:solidFill>
                  <a:schemeClr val="tx2"/>
                </a:solidFill>
                <a:latin typeface="Berlin Sans FB Demi" panose="020E0802020502020306" pitchFamily="34" charset="0"/>
                <a:ea typeface="SamsungOne 800" panose="020B0903030303020204" pitchFamily="34" charset="0"/>
              </a:rPr>
              <a:t>Arpitha R</a:t>
            </a:r>
          </a:p>
          <a:p>
            <a:pPr algn="ctr"/>
            <a:r>
              <a:rPr lang="en-US" sz="2400" b="1" dirty="0">
                <a:solidFill>
                  <a:schemeClr val="tx2"/>
                </a:solidFill>
                <a:latin typeface="Berlin Sans FB Demi" panose="020E0802020502020306" pitchFamily="34" charset="0"/>
                <a:ea typeface="SamsungOne 800" panose="020B0903030303020204" pitchFamily="34" charset="0"/>
              </a:rPr>
              <a:t>Roopin R Nayak</a:t>
            </a:r>
          </a:p>
          <a:p>
            <a:pPr algn="ctr"/>
            <a:r>
              <a:rPr lang="en-US" sz="2400" b="1" dirty="0">
                <a:solidFill>
                  <a:schemeClr val="tx2"/>
                </a:solidFill>
                <a:latin typeface="Berlin Sans FB Demi" panose="020E0802020502020306" pitchFamily="34" charset="0"/>
                <a:ea typeface="SamsungOne 800" panose="020B0903030303020204" pitchFamily="34" charset="0"/>
              </a:rPr>
              <a:t>Aditya Hegde</a:t>
            </a:r>
          </a:p>
          <a:p>
            <a:pPr algn="ct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525453" y="1560231"/>
            <a:ext cx="11476047" cy="5078313"/>
          </a:xfrm>
          <a:prstGeom prst="rect">
            <a:avLst/>
          </a:prstGeom>
          <a:noFill/>
        </p:spPr>
        <p:txBody>
          <a:bodyPr wrap="square" rtlCol="0">
            <a:spAutoFit/>
          </a:bodyPr>
          <a:lstStyle/>
          <a:p>
            <a:r>
              <a:rPr lang="en-IN" b="1" dirty="0"/>
              <a:t>Theme:</a:t>
            </a:r>
            <a:r>
              <a:rPr lang="en-IN" dirty="0"/>
              <a:t> Productivity Platforms.</a:t>
            </a:r>
          </a:p>
          <a:p>
            <a:endParaRPr lang="en-US" dirty="0"/>
          </a:p>
          <a:p>
            <a:r>
              <a:rPr lang="en-US" b="1" dirty="0"/>
              <a:t>Why: </a:t>
            </a:r>
            <a:r>
              <a:rPr lang="en-US" dirty="0"/>
              <a:t>"We selected the Productivity Platforms theme because manual inventory management is a significant productivity drain for Small and Medium Enterprises (SMEs), often costing managers hours every week in inefficient, spreadsheet-based tracking.“</a:t>
            </a:r>
          </a:p>
          <a:p>
            <a:br>
              <a:rPr lang="en-IN" dirty="0"/>
            </a:br>
            <a:r>
              <a:rPr lang="en-US" b="1" dirty="0"/>
              <a:t>Problem:</a:t>
            </a:r>
            <a:r>
              <a:rPr lang="en-US" dirty="0"/>
              <a:t> </a:t>
            </a:r>
            <a:r>
              <a:rPr lang="en-US" i="1" dirty="0"/>
              <a:t>Information Asymmetry:</a:t>
            </a:r>
            <a:r>
              <a:rPr lang="en-US" dirty="0"/>
              <a:t> Managers often realize stock is low only when a customer orders it, leading to "out-of-     stock" losses.</a:t>
            </a:r>
          </a:p>
          <a:p>
            <a:r>
              <a:rPr lang="en-US" i="1" dirty="0"/>
              <a:t>Manual Monitoring Fatigue:</a:t>
            </a:r>
            <a:r>
              <a:rPr lang="en-US" dirty="0"/>
              <a:t> Small to medium enterprises (SMEs) waste 2-4 hours weekly manually checking dashboards and cross-referencing supply prices.</a:t>
            </a:r>
          </a:p>
          <a:p>
            <a:r>
              <a:rPr lang="en-US" i="1" dirty="0"/>
              <a:t>Data Privacy Concerns:</a:t>
            </a:r>
            <a:r>
              <a:rPr lang="en-US" dirty="0"/>
              <a:t> Businesses are hesitant to upload sensitive inventory and supplier data to third-party cloud AI services.</a:t>
            </a:r>
          </a:p>
          <a:p>
            <a:endParaRPr lang="en-US" dirty="0"/>
          </a:p>
          <a:p>
            <a:r>
              <a:rPr lang="en-US" b="1" dirty="0"/>
              <a:t>Persona:</a:t>
            </a:r>
            <a:r>
              <a:rPr lang="en-US" dirty="0"/>
              <a:t> SME Store Owners, Warehouse Operations Managers, and Business Owners.</a:t>
            </a:r>
          </a:p>
          <a:p>
            <a:endParaRPr lang="en-US" dirty="0"/>
          </a:p>
          <a:p>
            <a:r>
              <a:rPr lang="en-US" b="1" dirty="0"/>
              <a:t>Importance:</a:t>
            </a:r>
            <a:r>
              <a:rPr lang="en-US" dirty="0"/>
              <a:t> A manager's time is wasted on manually "checking" things. Moving the "checking" from humans to an autonomous agent saves both sleep and estimated $10K+ in annual lost revenue.</a:t>
            </a:r>
          </a:p>
          <a:p>
            <a:endParaRPr lang="en-IN" dirty="0"/>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07264"/>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997839"/>
            <a:ext cx="10972800" cy="2862322"/>
          </a:xfrm>
          <a:prstGeom prst="rect">
            <a:avLst/>
          </a:prstGeom>
          <a:noFill/>
        </p:spPr>
        <p:txBody>
          <a:bodyPr wrap="square" rtlCol="0">
            <a:spAutoFit/>
          </a:bodyPr>
          <a:lstStyle/>
          <a:p>
            <a:r>
              <a:rPr lang="en-US" b="1" dirty="0"/>
              <a:t>Existing Solutions:</a:t>
            </a:r>
            <a:r>
              <a:rPr lang="en-US" dirty="0"/>
              <a:t> Passive inventory dashboards where you have to log in to see what's wrong, or standard automated </a:t>
            </a:r>
            <a:r>
              <a:rPr lang="en-US" dirty="0" err="1"/>
              <a:t>cron</a:t>
            </a:r>
            <a:r>
              <a:rPr lang="en-US" dirty="0"/>
              <a:t> jobs.</a:t>
            </a:r>
          </a:p>
          <a:p>
            <a:endParaRPr lang="en-US" dirty="0"/>
          </a:p>
          <a:p>
            <a:r>
              <a:rPr lang="en-US" b="1" dirty="0"/>
              <a:t>What’s Missing/Broken:</a:t>
            </a:r>
            <a:r>
              <a:rPr lang="en-US" dirty="0"/>
              <a:t> Standard code (like a </a:t>
            </a:r>
            <a:r>
              <a:rPr lang="en-US" dirty="0" err="1"/>
              <a:t>cron</a:t>
            </a:r>
            <a:r>
              <a:rPr lang="en-US" dirty="0"/>
              <a:t> job) can check if stock is below a certain number, but it lacks </a:t>
            </a:r>
            <a:r>
              <a:rPr lang="en-US" i="1" dirty="0"/>
              <a:t>reasoning</a:t>
            </a:r>
            <a:r>
              <a:rPr lang="en-US" dirty="0"/>
              <a:t>. It doesn't know </a:t>
            </a:r>
            <a:r>
              <a:rPr lang="en-US" i="1" dirty="0"/>
              <a:t>why</a:t>
            </a:r>
            <a:r>
              <a:rPr lang="en-US" dirty="0"/>
              <a:t> the stock is low, or if an external factor like an upcoming holiday requires more stock than usual. Cloud-based ERPs compromise local database privacy and are expensive.</a:t>
            </a:r>
          </a:p>
          <a:p>
            <a:endParaRPr lang="en-US" dirty="0"/>
          </a:p>
          <a:p>
            <a:r>
              <a:rPr lang="en-US" b="1" dirty="0"/>
              <a:t>Opportunity:</a:t>
            </a:r>
            <a:r>
              <a:rPr lang="en-US" dirty="0"/>
              <a:t> A digital colleague that proactively bridges the gap between database records and real-world communication channels (Telegram/Discord), identifying problems before a human sees them.</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36251"/>
            <a:ext cx="1950720" cy="341376"/>
          </a:xfrm>
          <a:prstGeom prst="rect">
            <a:avLst/>
          </a:prstGeom>
          <a:solidFill>
            <a:srgbClr val="0077A8"/>
          </a:solidFill>
          <a:ln w="12700">
            <a:solidFill>
              <a:srgbClr val="0077A8"/>
            </a:solidFill>
            <a:prstDash val="solid"/>
          </a:ln>
        </p:spPr>
        <p:txBody>
          <a:bodyPr/>
          <a:lstStyle/>
          <a:p>
            <a:endParaRPr lang="en-IN" dirty="0"/>
          </a:p>
        </p:txBody>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36576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  Solutions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710937"/>
            <a:ext cx="10316280" cy="3970318"/>
          </a:xfrm>
          <a:prstGeom prst="rect">
            <a:avLst/>
          </a:prstGeom>
          <a:noFill/>
        </p:spPr>
        <p:txBody>
          <a:bodyPr wrap="square" rtlCol="0">
            <a:spAutoFit/>
          </a:bodyPr>
          <a:lstStyle/>
          <a:p>
            <a:r>
              <a:rPr lang="en-US" b="1" dirty="0"/>
              <a:t>What We Built:</a:t>
            </a:r>
            <a:r>
              <a:rPr lang="en-US" dirty="0"/>
              <a:t> StockMaster Sentinel, a proactive warehouse manager living on your local machine powered by the </a:t>
            </a:r>
            <a:r>
              <a:rPr lang="en-US" dirty="0" err="1"/>
              <a:t>OpenClaw</a:t>
            </a:r>
            <a:r>
              <a:rPr lang="en-US" dirty="0"/>
              <a:t> framework.</a:t>
            </a:r>
          </a:p>
          <a:p>
            <a:endParaRPr lang="en-US" dirty="0"/>
          </a:p>
          <a:p>
            <a:r>
              <a:rPr lang="en-US" b="1" dirty="0"/>
              <a:t>Core Ideas Explanation:</a:t>
            </a:r>
            <a:r>
              <a:rPr lang="en-US" dirty="0"/>
              <a:t> The system continuously monitors the Spring Boot inventory backend via a Heartbeat (every 4-6 hours). When stock drops, it doesn't just alert; it investigates audit logs to find the root cause and searches global supply chain trends before notifying the team.</a:t>
            </a:r>
          </a:p>
          <a:p>
            <a:endParaRPr lang="en-US" dirty="0"/>
          </a:p>
          <a:p>
            <a:r>
              <a:rPr lang="en-US" b="1" dirty="0"/>
              <a:t>Key Features:</a:t>
            </a:r>
            <a:r>
              <a:rPr lang="en-US" dirty="0"/>
              <a:t> </a:t>
            </a:r>
            <a:r>
              <a:rPr lang="en-US" i="1" dirty="0"/>
              <a:t>Proactive Alerts &amp; Outreach:</a:t>
            </a:r>
            <a:r>
              <a:rPr lang="en-US" dirty="0"/>
              <a:t> Senses low stock and automatically drafts purchase orders via WhatsApp.</a:t>
            </a:r>
          </a:p>
          <a:p>
            <a:r>
              <a:rPr lang="en-US" i="1" dirty="0"/>
              <a:t>Natural Language Business Intelligence (BI):</a:t>
            </a:r>
            <a:r>
              <a:rPr lang="en-US" dirty="0"/>
              <a:t> Ask the agent via Discord about stock losses, and it returns a clean Markdown table.</a:t>
            </a:r>
          </a:p>
          <a:p>
            <a:r>
              <a:rPr lang="en-US" i="1" dirty="0"/>
              <a:t>Autonomous Reconciliation:</a:t>
            </a:r>
            <a:r>
              <a:rPr lang="en-US" dirty="0"/>
              <a:t> Compares DB with target stock and investigates audit logs for discrepancies (e.g., theft, damage).</a:t>
            </a:r>
          </a:p>
          <a:p>
            <a:endParaRPr lang="en-IN" dirty="0"/>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13A03D74-00B1-E79F-1C76-D905DF38BBFD}"/>
              </a:ext>
            </a:extLst>
          </p:cNvPr>
          <p:cNvSpPr/>
          <p:nvPr/>
        </p:nvSpPr>
        <p:spPr>
          <a:xfrm>
            <a:off x="250682" y="-124634"/>
            <a:ext cx="10972800" cy="853440"/>
          </a:xfrm>
          <a:prstGeom prst="rect">
            <a:avLst/>
          </a:prstGeom>
          <a:noFill/>
          <a:ln/>
        </p:spPr>
        <p:txBody>
          <a:bodyPr wrap="square" lIns="0" tIns="0" rIns="0" bIns="0" rtlCol="0" anchor="ctr"/>
          <a:lstStyle/>
          <a:p>
            <a:r>
              <a:rPr lang="en-US" sz="2400" b="1" dirty="0">
                <a:latin typeface="Calibri" pitchFamily="34" charset="0"/>
                <a:ea typeface="Calibri" pitchFamily="34" charset="-122"/>
                <a:cs typeface="Calibri" pitchFamily="34" charset="-120"/>
              </a:rPr>
              <a:t>Product Walkthrough:</a:t>
            </a:r>
            <a:endParaRPr lang="en-US" sz="2400" dirty="0"/>
          </a:p>
        </p:txBody>
      </p:sp>
      <p:sp>
        <p:nvSpPr>
          <p:cNvPr id="4" name="TextBox 3">
            <a:extLst>
              <a:ext uri="{FF2B5EF4-FFF2-40B4-BE49-F238E27FC236}">
                <a16:creationId xmlns:a16="http://schemas.microsoft.com/office/drawing/2014/main" id="{2AB7411B-0CC4-54EB-F1B5-9DB4510E2965}"/>
              </a:ext>
            </a:extLst>
          </p:cNvPr>
          <p:cNvSpPr txBox="1"/>
          <p:nvPr/>
        </p:nvSpPr>
        <p:spPr>
          <a:xfrm>
            <a:off x="164842" y="526161"/>
            <a:ext cx="12027158" cy="6247864"/>
          </a:xfrm>
          <a:prstGeom prst="rect">
            <a:avLst/>
          </a:prstGeom>
          <a:noFill/>
        </p:spPr>
        <p:txBody>
          <a:bodyPr wrap="square">
            <a:spAutoFit/>
          </a:bodyPr>
          <a:lstStyle/>
          <a:p>
            <a:pPr>
              <a:buFont typeface="+mj-lt"/>
              <a:buAutoNum type="arabicPeriod"/>
            </a:pPr>
            <a:r>
              <a:rPr lang="en-US" sz="1600" b="1" dirty="0"/>
              <a:t>Onboarding:</a:t>
            </a:r>
            <a:r>
              <a:rPr lang="en-US" sz="1600" dirty="0"/>
              <a:t> The store owner sets up their profile, connecting their Discord channel for alerts.</a:t>
            </a:r>
          </a:p>
          <a:p>
            <a:pPr>
              <a:buFont typeface="+mj-lt"/>
              <a:buAutoNum type="arabicPeriod"/>
            </a:pPr>
            <a:endParaRPr lang="en-US" sz="1600" dirty="0"/>
          </a:p>
          <a:p>
            <a:pPr>
              <a:buFont typeface="+mj-lt"/>
              <a:buAutoNum type="arabicPeriod"/>
            </a:pPr>
            <a:r>
              <a:rPr lang="en-US" sz="1600" b="1" dirty="0"/>
              <a:t>Dashboard Initialization:</a:t>
            </a:r>
            <a:r>
              <a:rPr lang="en-US" sz="1600" dirty="0"/>
              <a:t> The owner accesses the StockMaster Sentinel SOC Dashboard, which displays the total products, zero low stock alerts, and the total inventory value. The Inventory Matrix shows items like "tea" and "milk" with a "NORMAL" status. The Sentinel Live Feed is active on the right side of the screen.</a:t>
            </a:r>
          </a:p>
          <a:p>
            <a:pPr>
              <a:buFont typeface="+mj-lt"/>
              <a:buAutoNum type="arabicPeriod"/>
            </a:pPr>
            <a:endParaRPr lang="en-US" sz="1600" dirty="0"/>
          </a:p>
          <a:p>
            <a:pPr>
              <a:buFont typeface="+mj-lt"/>
              <a:buAutoNum type="arabicPeriod"/>
            </a:pPr>
            <a:r>
              <a:rPr lang="en-US" sz="1600" b="1" dirty="0"/>
              <a:t>Simulating the Issue:</a:t>
            </a:r>
            <a:r>
              <a:rPr lang="en-US" sz="1600" dirty="0"/>
              <a:t> The owner uses the "Command Center" to "Simulate Shortage.“</a:t>
            </a:r>
          </a:p>
          <a:p>
            <a:pPr>
              <a:buFont typeface="+mj-lt"/>
              <a:buAutoNum type="arabicPeriod"/>
            </a:pPr>
            <a:endParaRPr lang="en-US" sz="1600" dirty="0"/>
          </a:p>
          <a:p>
            <a:pPr>
              <a:buFont typeface="+mj-lt"/>
              <a:buAutoNum type="arabicPeriod"/>
            </a:pPr>
            <a:r>
              <a:rPr lang="en-US" sz="1600" b="1" dirty="0"/>
              <a:t>The Trigger:</a:t>
            </a:r>
            <a:r>
              <a:rPr lang="en-US" sz="1600" dirty="0"/>
              <a:t> The Heartbeat triggers. The Sentinel Live Feed immediately shows "SYSTEM: Forced shortage detected for tea (qty=8).“</a:t>
            </a:r>
          </a:p>
          <a:p>
            <a:pPr>
              <a:buFont typeface="+mj-lt"/>
              <a:buAutoNum type="arabicPeriod"/>
            </a:pPr>
            <a:endParaRPr lang="en-US" sz="1600" dirty="0"/>
          </a:p>
          <a:p>
            <a:pPr>
              <a:buFont typeface="+mj-lt"/>
              <a:buAutoNum type="arabicPeriod"/>
            </a:pPr>
            <a:r>
              <a:rPr lang="en-US" sz="1600" b="1" dirty="0"/>
              <a:t>The Analysis:</a:t>
            </a:r>
            <a:r>
              <a:rPr lang="en-US" sz="1600" dirty="0"/>
              <a:t> The Agent queries the Spring Boot API, detects the low stock, and executes the </a:t>
            </a:r>
            <a:r>
              <a:rPr lang="en-US" sz="1600" dirty="0">
                <a:latin typeface="Courier New" panose="02070309020205020404" pitchFamily="49" charset="0"/>
              </a:rPr>
              <a:t>market_research.py</a:t>
            </a:r>
            <a:r>
              <a:rPr lang="en-US" sz="1600" dirty="0"/>
              <a:t> skill. It analyzes the audit logs, noting a "Missing Shipment" for tea and cross-references it with market data showing "low shortage risk with stable prices due to Steady supply from Indian plantations.“</a:t>
            </a:r>
          </a:p>
          <a:p>
            <a:pPr>
              <a:buFont typeface="+mj-lt"/>
              <a:buAutoNum type="arabicPeriod"/>
            </a:pPr>
            <a:endParaRPr lang="en-US" sz="1600" dirty="0"/>
          </a:p>
          <a:p>
            <a:pPr>
              <a:buFont typeface="+mj-lt"/>
              <a:buAutoNum type="arabicPeriod"/>
            </a:pPr>
            <a:r>
              <a:rPr lang="en-US" sz="1600" b="1" dirty="0"/>
              <a:t>The Action:</a:t>
            </a:r>
            <a:r>
              <a:rPr lang="en-US" sz="1600" dirty="0"/>
              <a:t> The user receives a contextual alert via the connected Discord channel outlining the issue, the AI analysis, and a recommended action to expedite the next shipment.</a:t>
            </a:r>
          </a:p>
          <a:p>
            <a:pPr>
              <a:buFont typeface="+mj-lt"/>
              <a:buAutoNum type="arabicPeriod"/>
            </a:pPr>
            <a:endParaRPr lang="en-US" sz="1600" dirty="0"/>
          </a:p>
          <a:p>
            <a:pPr>
              <a:buFont typeface="+mj-lt"/>
              <a:buAutoNum type="arabicPeriod"/>
            </a:pPr>
            <a:r>
              <a:rPr lang="en-US" sz="1600" b="1" dirty="0"/>
              <a:t>Resolution:</a:t>
            </a:r>
            <a:r>
              <a:rPr lang="en-US" sz="1600" dirty="0"/>
              <a:t> The owner uses the Command Center to send the instruction "restock 20 tea". The system confirms the command is sent, the inventory matrix updates, and the AI logs the action in the Live Feed.</a:t>
            </a:r>
          </a:p>
          <a:p>
            <a:pPr>
              <a:buFont typeface="+mj-lt"/>
              <a:buAutoNum type="arabicPeriod"/>
            </a:pPr>
            <a:endParaRPr lang="en-US" sz="1600" dirty="0"/>
          </a:p>
          <a:p>
            <a:pPr>
              <a:buNone/>
            </a:pPr>
            <a:r>
              <a:rPr lang="en-US" sz="1600" b="1" dirty="0"/>
              <a:t>Key Moments:</a:t>
            </a:r>
            <a:endParaRPr lang="en-US" sz="1600" dirty="0"/>
          </a:p>
          <a:p>
            <a:pPr>
              <a:buFont typeface="Arial" panose="020B0604020202020204" pitchFamily="34" charset="0"/>
              <a:buChar char="•"/>
            </a:pPr>
            <a:r>
              <a:rPr lang="en-US" sz="1600" b="1" dirty="0"/>
              <a:t>The Proactive Warning:</a:t>
            </a:r>
            <a:r>
              <a:rPr lang="en-US" sz="1600" dirty="0"/>
              <a:t> Seeing the agent cross-reference a low database number (e.g., coffee is at 8) with real-world global shortage news ("Brazil drought affecting coffee bean supply") and suggesting locking in a bulk order before prices rise further.</a:t>
            </a:r>
          </a:p>
          <a:p>
            <a:pPr>
              <a:buFont typeface="Arial" panose="020B0604020202020204" pitchFamily="34" charset="0"/>
              <a:buChar char="•"/>
            </a:pPr>
            <a:r>
              <a:rPr lang="en-US" sz="1600" b="1" dirty="0"/>
              <a:t>Natural Language Execution:</a:t>
            </a:r>
            <a:r>
              <a:rPr lang="en-US" sz="1600" dirty="0"/>
              <a:t> Sending a simple text command like "restock 20 tea" directly to the Sentinel Command Center and watching the backend database and live feed update autonomously.</a:t>
            </a:r>
          </a:p>
        </p:txBody>
      </p:sp>
    </p:spTree>
    <p:extLst>
      <p:ext uri="{BB962C8B-B14F-4D97-AF65-F5344CB8AC3E}">
        <p14:creationId xmlns:p14="http://schemas.microsoft.com/office/powerpoint/2010/main" val="334657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5657428"/>
            <a:ext cx="11384591" cy="615553"/>
          </a:xfrm>
          <a:prstGeom prst="rect">
            <a:avLst/>
          </a:prstGeom>
          <a:noFill/>
        </p:spPr>
        <p:txBody>
          <a:bodyPr wrap="square" rtlCol="0">
            <a:spAutoFit/>
          </a:bodyPr>
          <a:lstStyle/>
          <a:p>
            <a:pPr marL="285750" indent="-285750">
              <a:buFont typeface="Wingdings" panose="05000000000000000000" pitchFamily="2" charset="2"/>
              <a:buChar char="Ø"/>
            </a:pPr>
            <a:r>
              <a:rPr lang="en-US" sz="1600" b="1" dirty="0"/>
              <a:t>Onboarding:</a:t>
            </a:r>
            <a:r>
              <a:rPr lang="en-US" sz="1600" dirty="0"/>
              <a:t> The store owner sets up their profile, connecting their Discord channel for alerts.</a:t>
            </a:r>
          </a:p>
          <a:p>
            <a:endParaRPr lang="en-IN" dirty="0"/>
          </a:p>
        </p:txBody>
      </p:sp>
      <p:pic>
        <p:nvPicPr>
          <p:cNvPr id="8" name="Picture 7">
            <a:extLst>
              <a:ext uri="{FF2B5EF4-FFF2-40B4-BE49-F238E27FC236}">
                <a16:creationId xmlns:a16="http://schemas.microsoft.com/office/drawing/2014/main" id="{25341364-92AC-F185-A79B-A2E63658B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474595"/>
            <a:ext cx="7064518" cy="4793582"/>
          </a:xfrm>
          <a:prstGeom prst="rect">
            <a:avLst/>
          </a:prstGeom>
        </p:spPr>
      </p:pic>
    </p:spTree>
    <p:extLst>
      <p:ext uri="{BB962C8B-B14F-4D97-AF65-F5344CB8AC3E}">
        <p14:creationId xmlns:p14="http://schemas.microsoft.com/office/powerpoint/2010/main" val="452960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C5C0AB1-83DE-9904-ABBB-ED7986CE6C2F}"/>
              </a:ext>
            </a:extLst>
          </p:cNvPr>
          <p:cNvPicPr>
            <a:picLocks noChangeAspect="1"/>
          </p:cNvPicPr>
          <p:nvPr/>
        </p:nvPicPr>
        <p:blipFill>
          <a:blip r:embed="rId2"/>
          <a:stretch>
            <a:fillRect/>
          </a:stretch>
        </p:blipFill>
        <p:spPr>
          <a:xfrm>
            <a:off x="361560" y="420968"/>
            <a:ext cx="10143620" cy="4136034"/>
          </a:xfrm>
          <a:prstGeom prst="rect">
            <a:avLst/>
          </a:prstGeom>
        </p:spPr>
      </p:pic>
      <p:sp>
        <p:nvSpPr>
          <p:cNvPr id="3" name="TextBox 2">
            <a:extLst>
              <a:ext uri="{FF2B5EF4-FFF2-40B4-BE49-F238E27FC236}">
                <a16:creationId xmlns:a16="http://schemas.microsoft.com/office/drawing/2014/main" id="{554B5784-29AA-CF04-6B88-56F351B9CD3C}"/>
              </a:ext>
            </a:extLst>
          </p:cNvPr>
          <p:cNvSpPr txBox="1"/>
          <p:nvPr/>
        </p:nvSpPr>
        <p:spPr>
          <a:xfrm>
            <a:off x="361560" y="5080433"/>
            <a:ext cx="10863165" cy="923330"/>
          </a:xfrm>
          <a:prstGeom prst="rect">
            <a:avLst/>
          </a:prstGeom>
          <a:noFill/>
        </p:spPr>
        <p:txBody>
          <a:bodyPr wrap="square">
            <a:spAutoFit/>
          </a:bodyPr>
          <a:lstStyle/>
          <a:p>
            <a:pPr marL="285750" indent="-285750">
              <a:buFont typeface="Wingdings" panose="05000000000000000000" pitchFamily="2" charset="2"/>
              <a:buChar char="Ø"/>
            </a:pPr>
            <a:r>
              <a:rPr lang="en-US" sz="1800" b="1" dirty="0"/>
              <a:t>Dashboard </a:t>
            </a:r>
            <a:r>
              <a:rPr lang="en-US" b="1" dirty="0"/>
              <a:t>:</a:t>
            </a:r>
            <a:r>
              <a:rPr lang="en-US" sz="1800" dirty="0"/>
              <a:t>The owner accesses the StockMaster Sentinel SOC Dashboard, which displays the total products, zero low stock alerts, and the total inventory value. The Inventory Matrix shows items like "tea" and "milk" with a "NORMAL" status. The Sentinel Live Feed is active on the right side of the screen</a:t>
            </a:r>
            <a:r>
              <a:rPr lang="en-US" dirty="0"/>
              <a:t>.</a:t>
            </a:r>
          </a:p>
        </p:txBody>
      </p:sp>
    </p:spTree>
    <p:extLst>
      <p:ext uri="{BB962C8B-B14F-4D97-AF65-F5344CB8AC3E}">
        <p14:creationId xmlns:p14="http://schemas.microsoft.com/office/powerpoint/2010/main" val="2631390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3CA6B1-C09C-2622-7CEB-907FF08B6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683" y="268254"/>
            <a:ext cx="5126783" cy="3160746"/>
          </a:xfrm>
          <a:prstGeom prst="rect">
            <a:avLst/>
          </a:prstGeom>
        </p:spPr>
      </p:pic>
      <p:pic>
        <p:nvPicPr>
          <p:cNvPr id="9" name="Picture 8">
            <a:extLst>
              <a:ext uri="{FF2B5EF4-FFF2-40B4-BE49-F238E27FC236}">
                <a16:creationId xmlns:a16="http://schemas.microsoft.com/office/drawing/2014/main" id="{0483708F-122D-CF46-DD13-80BBE2F93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8409" y="268254"/>
            <a:ext cx="6366005" cy="3160746"/>
          </a:xfrm>
          <a:prstGeom prst="rect">
            <a:avLst/>
          </a:prstGeom>
        </p:spPr>
      </p:pic>
      <p:sp>
        <p:nvSpPr>
          <p:cNvPr id="11" name="TextBox 10">
            <a:extLst>
              <a:ext uri="{FF2B5EF4-FFF2-40B4-BE49-F238E27FC236}">
                <a16:creationId xmlns:a16="http://schemas.microsoft.com/office/drawing/2014/main" id="{742DF409-3DE7-64DB-CD75-F620A23B7B5A}"/>
              </a:ext>
            </a:extLst>
          </p:cNvPr>
          <p:cNvSpPr txBox="1"/>
          <p:nvPr/>
        </p:nvSpPr>
        <p:spPr>
          <a:xfrm>
            <a:off x="135683" y="4293742"/>
            <a:ext cx="7567126" cy="923330"/>
          </a:xfrm>
          <a:prstGeom prst="rect">
            <a:avLst/>
          </a:prstGeom>
          <a:noFill/>
        </p:spPr>
        <p:txBody>
          <a:bodyPr wrap="square">
            <a:spAutoFit/>
          </a:bodyPr>
          <a:lstStyle/>
          <a:p>
            <a:pPr marL="285750" indent="-285750">
              <a:buFont typeface="Wingdings" panose="05000000000000000000" pitchFamily="2" charset="2"/>
              <a:buChar char="Ø"/>
            </a:pPr>
            <a:r>
              <a:rPr lang="en-US" dirty="0"/>
              <a:t>Adding a new product instantly triggers a real-time database synchronization. This ensures the new item immediately populates the live Inventory Matrix for continuous AI monitoring.</a:t>
            </a:r>
            <a:endParaRPr lang="en-IN" dirty="0"/>
          </a:p>
        </p:txBody>
      </p:sp>
    </p:spTree>
    <p:extLst>
      <p:ext uri="{BB962C8B-B14F-4D97-AF65-F5344CB8AC3E}">
        <p14:creationId xmlns:p14="http://schemas.microsoft.com/office/powerpoint/2010/main" val="321392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0E4D9D-FBDA-A732-774A-31314C7F49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2" y="139957"/>
            <a:ext cx="5730551" cy="4674639"/>
          </a:xfrm>
          <a:prstGeom prst="rect">
            <a:avLst/>
          </a:prstGeom>
        </p:spPr>
      </p:pic>
      <p:pic>
        <p:nvPicPr>
          <p:cNvPr id="7" name="Picture 6">
            <a:extLst>
              <a:ext uri="{FF2B5EF4-FFF2-40B4-BE49-F238E27FC236}">
                <a16:creationId xmlns:a16="http://schemas.microsoft.com/office/drawing/2014/main" id="{40DCA6C4-4064-65C0-07B4-CED68FED8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0922" y="139958"/>
            <a:ext cx="6109996" cy="4674638"/>
          </a:xfrm>
          <a:prstGeom prst="rect">
            <a:avLst/>
          </a:prstGeom>
        </p:spPr>
      </p:pic>
      <p:sp>
        <p:nvSpPr>
          <p:cNvPr id="9" name="TextBox 8">
            <a:extLst>
              <a:ext uri="{FF2B5EF4-FFF2-40B4-BE49-F238E27FC236}">
                <a16:creationId xmlns:a16="http://schemas.microsoft.com/office/drawing/2014/main" id="{6B747AA5-0538-6966-205B-DB97D6C26CA7}"/>
              </a:ext>
            </a:extLst>
          </p:cNvPr>
          <p:cNvSpPr txBox="1"/>
          <p:nvPr/>
        </p:nvSpPr>
        <p:spPr>
          <a:xfrm>
            <a:off x="101082" y="5156739"/>
            <a:ext cx="10471279" cy="1200329"/>
          </a:xfrm>
          <a:prstGeom prst="rect">
            <a:avLst/>
          </a:prstGeom>
          <a:noFill/>
        </p:spPr>
        <p:txBody>
          <a:bodyPr wrap="square">
            <a:spAutoFit/>
          </a:bodyPr>
          <a:lstStyle/>
          <a:p>
            <a:pPr marL="285750" indent="-285750">
              <a:buFont typeface="Wingdings" panose="05000000000000000000" pitchFamily="2" charset="2"/>
              <a:buChar char="Ø"/>
            </a:pPr>
            <a:r>
              <a:rPr lang="en-US" dirty="0"/>
              <a:t>Receive instant, proactive notifications on Discord or Telegram the moment an inventory anomaly is detected.</a:t>
            </a:r>
          </a:p>
          <a:p>
            <a:pPr marL="285750" indent="-285750">
              <a:buFont typeface="Wingdings" panose="05000000000000000000" pitchFamily="2" charset="2"/>
              <a:buChar char="Ø"/>
            </a:pPr>
            <a:r>
              <a:rPr lang="en-US" dirty="0"/>
              <a:t>These real-time alerts provide full AI-driven context and drafted solutions, keeping your team informed without ever opening a dashboard.</a:t>
            </a:r>
          </a:p>
        </p:txBody>
      </p:sp>
    </p:spTree>
    <p:extLst>
      <p:ext uri="{BB962C8B-B14F-4D97-AF65-F5344CB8AC3E}">
        <p14:creationId xmlns:p14="http://schemas.microsoft.com/office/powerpoint/2010/main" val="91869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74914" y="219456"/>
            <a:ext cx="1950720" cy="341376"/>
          </a:xfrm>
          <a:prstGeom prst="rect">
            <a:avLst/>
          </a:prstGeom>
          <a:solidFill>
            <a:srgbClr val="0077A8"/>
          </a:solidFill>
          <a:ln w="12700">
            <a:solidFill>
              <a:srgbClr val="0077A8"/>
            </a:solidFill>
            <a:prstDash val="solid"/>
          </a:ln>
        </p:spPr>
        <p:txBody>
          <a:bodyPr/>
          <a:lstStyle/>
          <a:p>
            <a:endParaRPr lang="en-IN" dirty="0"/>
          </a:p>
        </p:txBody>
      </p:sp>
      <p:sp>
        <p:nvSpPr>
          <p:cNvPr id="4" name="Text 2"/>
          <p:cNvSpPr/>
          <p:nvPr/>
        </p:nvSpPr>
        <p:spPr>
          <a:xfrm>
            <a:off x="609599" y="219456"/>
            <a:ext cx="2086947"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2109216"/>
            <a:ext cx="10841904" cy="2585323"/>
          </a:xfrm>
          <a:prstGeom prst="rect">
            <a:avLst/>
          </a:prstGeom>
          <a:noFill/>
        </p:spPr>
        <p:txBody>
          <a:bodyPr wrap="square" rtlCol="0">
            <a:spAutoFit/>
          </a:bodyPr>
          <a:lstStyle/>
          <a:p>
            <a:r>
              <a:rPr lang="en-IN" b="1" dirty="0"/>
              <a:t>Tech Stack:</a:t>
            </a:r>
            <a:r>
              <a:rPr lang="en-IN" dirty="0"/>
              <a:t> </a:t>
            </a:r>
            <a:r>
              <a:rPr lang="en-IN" dirty="0" err="1"/>
              <a:t>OpenClaw</a:t>
            </a:r>
            <a:r>
              <a:rPr lang="en-IN" dirty="0"/>
              <a:t> (Node.js variant) for the Brain, Java 21 &amp; Spring Boot 3.x for the Middleware, MySQL for the Database, React/HTML/Tailwind for the Frontend.</a:t>
            </a:r>
          </a:p>
          <a:p>
            <a:endParaRPr lang="en-IN" dirty="0"/>
          </a:p>
          <a:p>
            <a:r>
              <a:rPr lang="en-IN" b="1" dirty="0"/>
              <a:t>AI Usage:</a:t>
            </a:r>
            <a:r>
              <a:rPr lang="en-IN" dirty="0"/>
              <a:t> Anthropic Claude 3.5 Sonnet (for reasoning) / </a:t>
            </a:r>
            <a:r>
              <a:rPr lang="en-IN" dirty="0" err="1"/>
              <a:t>Ollama</a:t>
            </a:r>
            <a:r>
              <a:rPr lang="en-IN" dirty="0"/>
              <a:t> Llama 3 (for local privacy testing). Uses custom Python scripts for Skills (Inventory, Market Research, Execute Restock).</a:t>
            </a:r>
          </a:p>
          <a:p>
            <a:endParaRPr lang="en-IN" dirty="0"/>
          </a:p>
          <a:p>
            <a:r>
              <a:rPr lang="en-IN" b="1" dirty="0"/>
              <a:t>System Flow:</a:t>
            </a:r>
            <a:r>
              <a:rPr lang="en-IN" dirty="0"/>
              <a:t> Built on a "Sovereign Loop" Architecture. Local MySQL DB ---&gt; Spring Boot REST API (The "Nervous System") ---&gt; </a:t>
            </a:r>
            <a:r>
              <a:rPr lang="en-IN" dirty="0" err="1"/>
              <a:t>OpenClaw</a:t>
            </a:r>
            <a:r>
              <a:rPr lang="en-IN" dirty="0"/>
              <a:t> Agent (The "Brain") ---&gt; Channel Adapters (WhatsApp/Discord).</a:t>
            </a:r>
          </a:p>
          <a:p>
            <a:endParaRPr lang="en-IN" dirty="0"/>
          </a:p>
        </p:txBody>
      </p:sp>
    </p:spTree>
    <p:extLst>
      <p:ext uri="{BB962C8B-B14F-4D97-AF65-F5344CB8AC3E}">
        <p14:creationId xmlns:p14="http://schemas.microsoft.com/office/powerpoint/2010/main" val="56678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710937"/>
            <a:ext cx="11240010" cy="3970318"/>
          </a:xfrm>
          <a:prstGeom prst="rect">
            <a:avLst/>
          </a:prstGeom>
          <a:noFill/>
        </p:spPr>
        <p:txBody>
          <a:bodyPr wrap="square" rtlCol="0">
            <a:spAutoFit/>
          </a:bodyPr>
          <a:lstStyle/>
          <a:p>
            <a:r>
              <a:rPr lang="en-US" b="1" dirty="0"/>
              <a:t>Real-life scenarios:</a:t>
            </a:r>
            <a:endParaRPr lang="en-US" dirty="0"/>
          </a:p>
          <a:p>
            <a:r>
              <a:rPr lang="en-US" i="1" dirty="0"/>
              <a:t>Supplier Negotiation Prep:</a:t>
            </a:r>
            <a:r>
              <a:rPr lang="en-US" dirty="0"/>
              <a:t> When an item is low, the agent searches for the current market price and drafts a message to the supplier: "I see the market rate is X, can we get a discount for a bulk order of Y?“</a:t>
            </a:r>
          </a:p>
          <a:p>
            <a:endParaRPr lang="en-US" dirty="0"/>
          </a:p>
          <a:p>
            <a:r>
              <a:rPr lang="en-US" i="1" dirty="0"/>
              <a:t>Contextual Querying:</a:t>
            </a:r>
            <a:r>
              <a:rPr lang="en-US" dirty="0"/>
              <a:t> A manager asks Discord which supplier has the fastest delivery time for a specific item, and the agent retrieves the answer directly from historical audit logs.</a:t>
            </a:r>
          </a:p>
          <a:p>
            <a:endParaRPr lang="en-US" dirty="0"/>
          </a:p>
          <a:p>
            <a:r>
              <a:rPr lang="en-US" i="1" dirty="0"/>
              <a:t>Autonomous Restocking:</a:t>
            </a:r>
            <a:r>
              <a:rPr lang="en-US" dirty="0"/>
              <a:t> User types "restock 20 units of Coffee Beans" in Discord, and the agent updates the Spring Boot database directly.</a:t>
            </a:r>
          </a:p>
          <a:p>
            <a:endParaRPr lang="en-US" dirty="0"/>
          </a:p>
          <a:p>
            <a:r>
              <a:rPr lang="en-US" b="1" dirty="0"/>
              <a:t>Scale Potential:</a:t>
            </a:r>
            <a:r>
              <a:rPr lang="en-US" dirty="0"/>
              <a:t> Built as a foundational tool, this architecture can run efficiently on standard, off-the-shelf hardware (like a local laptop or a basic store PC) while seamlessly scaling to monitor thousands of SKUs, saving businesses from massive enterprise software subscriptions.</a:t>
            </a:r>
          </a:p>
          <a:p>
            <a:endParaRPr lang="en-IN" dirty="0"/>
          </a:p>
        </p:txBody>
      </p:sp>
    </p:spTree>
    <p:extLst>
      <p:ext uri="{BB962C8B-B14F-4D97-AF65-F5344CB8AC3E}">
        <p14:creationId xmlns:p14="http://schemas.microsoft.com/office/powerpoint/2010/main" val="227735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339457" y="193563"/>
            <a:ext cx="1950720" cy="341376"/>
          </a:xfrm>
          <a:prstGeom prst="rect">
            <a:avLst/>
          </a:prstGeom>
          <a:solidFill>
            <a:srgbClr val="0077A8"/>
          </a:solidFill>
          <a:ln w="12700">
            <a:solidFill>
              <a:srgbClr val="0077A8"/>
            </a:solidFill>
            <a:prstDash val="solid"/>
          </a:ln>
        </p:spPr>
        <p:txBody>
          <a:bodyPr/>
          <a:lstStyle/>
          <a:p>
            <a:endParaRPr lang="en-IN" dirty="0"/>
          </a:p>
        </p:txBody>
      </p:sp>
      <p:sp>
        <p:nvSpPr>
          <p:cNvPr id="4" name="Text 2"/>
          <p:cNvSpPr/>
          <p:nvPr/>
        </p:nvSpPr>
        <p:spPr>
          <a:xfrm>
            <a:off x="609600" y="219456"/>
            <a:ext cx="1499118"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339457" y="643159"/>
            <a:ext cx="10972800" cy="341376"/>
          </a:xfrm>
          <a:prstGeom prst="rect">
            <a:avLst/>
          </a:prstGeom>
          <a:noFill/>
          <a:ln/>
        </p:spPr>
        <p:txBody>
          <a:bodyPr wrap="square" lIns="0" tIns="0" rIns="0" bIns="0" rtlCol="0" anchor="ctr"/>
          <a:lstStyle/>
          <a:p>
            <a:r>
              <a:rPr lang="en-US" sz="3600" b="1" dirty="0">
                <a:latin typeface="Calibri" pitchFamily="34" charset="0"/>
                <a:ea typeface="Calibri" pitchFamily="34" charset="-122"/>
                <a:cs typeface="Calibri" pitchFamily="34" charset="-120"/>
              </a:rPr>
              <a:t>Differentiation</a:t>
            </a:r>
            <a:endParaRPr lang="en-US" sz="3600"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339457" y="1121666"/>
            <a:ext cx="11656600" cy="6278642"/>
          </a:xfrm>
          <a:prstGeom prst="rect">
            <a:avLst/>
          </a:prstGeom>
          <a:noFill/>
        </p:spPr>
        <p:txBody>
          <a:bodyPr wrap="square" rtlCol="0">
            <a:spAutoFit/>
          </a:bodyPr>
          <a:lstStyle/>
          <a:p>
            <a:r>
              <a:rPr lang="en-US" b="1" dirty="0"/>
              <a:t>Why our solution stands out:</a:t>
            </a:r>
            <a:r>
              <a:rPr lang="en-US" dirty="0"/>
              <a:t> Most productivity submissions are simple meeting recorders or email summarizers. StockMaster Sentinel connects to a live enterprise database and performs </a:t>
            </a:r>
            <a:r>
              <a:rPr lang="en-US" i="1" dirty="0"/>
              <a:t>proactive reasoning</a:t>
            </a:r>
            <a:r>
              <a:rPr lang="en-US" dirty="0"/>
              <a:t>.</a:t>
            </a:r>
          </a:p>
          <a:p>
            <a:endParaRPr lang="en-US" dirty="0"/>
          </a:p>
          <a:p>
            <a:r>
              <a:rPr lang="en-US" b="1" dirty="0" err="1"/>
              <a:t>i</a:t>
            </a:r>
            <a:r>
              <a:rPr lang="en-US" b="1" dirty="0"/>
              <a:t>) Data Sovereignty:</a:t>
            </a:r>
            <a:r>
              <a:rPr lang="en-US" dirty="0"/>
              <a:t> Zero data exfiltration. Your private inventory data, supplier details, and audit logs never leave your local network. The agent only sends summarized intelligence externally.</a:t>
            </a:r>
          </a:p>
          <a:p>
            <a:pPr marL="285750" indent="-285750">
              <a:buFont typeface="Wingdings" panose="05000000000000000000" pitchFamily="2" charset="2"/>
              <a:buChar char="Ø"/>
            </a:pPr>
            <a:r>
              <a:rPr lang="en-US" sz="1600" b="1" dirty="0"/>
              <a:t>The Advantage:</a:t>
            </a:r>
            <a:r>
              <a:rPr lang="en-US" sz="1600" dirty="0"/>
              <a:t> Most AI competitors rely on cloud-based APIs (like OpenAI), forcing businesses to upload sensitive inventory, supplier, and pricing data to third-party servers. Your system runs locally via </a:t>
            </a:r>
            <a:r>
              <a:rPr lang="en-US" sz="1600" dirty="0" err="1"/>
              <a:t>OpenClaw</a:t>
            </a:r>
            <a:r>
              <a:rPr lang="en-US" sz="1600" dirty="0"/>
              <a:t>.</a:t>
            </a:r>
          </a:p>
          <a:p>
            <a:pPr marL="285750" indent="-285750">
              <a:buFont typeface="Wingdings" panose="05000000000000000000" pitchFamily="2" charset="2"/>
              <a:buChar char="Ø"/>
            </a:pPr>
            <a:r>
              <a:rPr lang="en-US" sz="1600" b="1" dirty="0"/>
              <a:t>The Protection:</a:t>
            </a:r>
            <a:r>
              <a:rPr lang="en-US" sz="1600" dirty="0"/>
              <a:t> It is incredibly difficult for a cloud-native competitor to pivot and re-architect their entire platform to run locally on an SME's hardware. This creates a strong technical barrier to entry.</a:t>
            </a:r>
          </a:p>
          <a:p>
            <a:pPr marL="285750" indent="-285750">
              <a:buFont typeface="Wingdings" panose="05000000000000000000" pitchFamily="2" charset="2"/>
              <a:buChar char="Ø"/>
            </a:pPr>
            <a:r>
              <a:rPr lang="en-US" sz="1600" b="1" dirty="0"/>
              <a:t>The Profitability:</a:t>
            </a:r>
            <a:r>
              <a:rPr lang="en-US" sz="1600" dirty="0"/>
              <a:t> By offering enterprise-grade privacy without massive cloud computing overhead, you build trust and loyalty with SMEs, leading to higher customer retention and lower operational costs.</a:t>
            </a:r>
          </a:p>
          <a:p>
            <a:endParaRPr lang="en-US" dirty="0"/>
          </a:p>
          <a:p>
            <a:r>
              <a:rPr lang="en-US" b="1" dirty="0"/>
              <a:t> ii) Contextual Action over Scripts:</a:t>
            </a:r>
            <a:r>
              <a:rPr lang="en-US" dirty="0"/>
              <a:t> A </a:t>
            </a:r>
            <a:r>
              <a:rPr lang="en-US" dirty="0" err="1"/>
              <a:t>cron</a:t>
            </a:r>
            <a:r>
              <a:rPr lang="en-US" dirty="0"/>
              <a:t> job alerts you that stock is at 10. </a:t>
            </a:r>
            <a:r>
              <a:rPr lang="en-US" dirty="0" err="1"/>
              <a:t>OpenClaw</a:t>
            </a:r>
            <a:r>
              <a:rPr lang="en-US" dirty="0"/>
              <a:t> sees that stock is at 10, reads the audit log to see 3 were damaged, searches the web to see prices are rising, and </a:t>
            </a:r>
            <a:r>
              <a:rPr lang="en-US" i="1" dirty="0"/>
              <a:t>then</a:t>
            </a:r>
            <a:r>
              <a:rPr lang="en-US" dirty="0"/>
              <a:t> alerts you with a drafted solution.</a:t>
            </a:r>
          </a:p>
          <a:p>
            <a:pPr marL="285750" indent="-285750">
              <a:buFont typeface="Wingdings" panose="05000000000000000000" pitchFamily="2" charset="2"/>
              <a:buChar char="Ø"/>
            </a:pPr>
            <a:r>
              <a:rPr lang="en-US" sz="1600" b="1" dirty="0"/>
              <a:t>The Advantage:</a:t>
            </a:r>
            <a:r>
              <a:rPr lang="en-US" sz="1600" dirty="0"/>
              <a:t> Legacy inventory tools (your competitors) rely on basic "if-then" logic (e.g., </a:t>
            </a:r>
            <a:r>
              <a:rPr lang="en-US" sz="1600" i="1" dirty="0"/>
              <a:t>if</a:t>
            </a:r>
            <a:r>
              <a:rPr lang="en-US" sz="1600" dirty="0"/>
              <a:t> stock is below 10, </a:t>
            </a:r>
            <a:r>
              <a:rPr lang="en-US" sz="1600" i="1" dirty="0"/>
              <a:t>then</a:t>
            </a:r>
            <a:r>
              <a:rPr lang="en-US" sz="1600" dirty="0"/>
              <a:t> send an email). StockMaster Sentinel performs multi-step, human-like investigation by checking stock, reading audit logs, searching global market news, and drafting actionable solutions.</a:t>
            </a:r>
          </a:p>
          <a:p>
            <a:pPr marL="285750" indent="-285750">
              <a:buFont typeface="Wingdings" panose="05000000000000000000" pitchFamily="2" charset="2"/>
              <a:buChar char="Ø"/>
            </a:pPr>
            <a:r>
              <a:rPr lang="en-US" sz="1600" b="1" dirty="0"/>
              <a:t>The Protection:</a:t>
            </a:r>
            <a:r>
              <a:rPr lang="en-US" sz="1600" dirty="0"/>
              <a:t> Replicating this autonomous workflow requires a fundamental shift from traditional software development to complex AI agent orchestration. Competitors with established legacy software cannot easily copy this without entirely rebuilding their core systems.</a:t>
            </a:r>
          </a:p>
          <a:p>
            <a:pPr marL="285750" indent="-285750">
              <a:buFont typeface="Wingdings" panose="05000000000000000000" pitchFamily="2" charset="2"/>
              <a:buChar char="Ø"/>
            </a:pPr>
            <a:r>
              <a:rPr lang="en-US" sz="1600" b="1" dirty="0"/>
              <a:t>The Profitability:</a:t>
            </a:r>
            <a:r>
              <a:rPr lang="en-US" sz="1600" dirty="0"/>
              <a:t> Because the system acts as a digital manager rather than just a passive notification dashboard, it delivers significantly higher, tangible value (saving actual labor hours), which justifies your market position over the long term.</a:t>
            </a:r>
          </a:p>
          <a:p>
            <a:endParaRPr lang="en-US" sz="1600" dirty="0"/>
          </a:p>
          <a:p>
            <a:endParaRPr lang="en-IN" dirty="0"/>
          </a:p>
        </p:txBody>
      </p:sp>
    </p:spTree>
    <p:extLst>
      <p:ext uri="{BB962C8B-B14F-4D97-AF65-F5344CB8AC3E}">
        <p14:creationId xmlns:p14="http://schemas.microsoft.com/office/powerpoint/2010/main" val="1746425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762668"/>
            <a:ext cx="7731700" cy="1477328"/>
          </a:xfrm>
          <a:prstGeom prst="rect">
            <a:avLst/>
          </a:prstGeom>
          <a:noFill/>
        </p:spPr>
        <p:txBody>
          <a:bodyPr wrap="square" rtlCol="0">
            <a:spAutoFit/>
          </a:bodyPr>
          <a:lstStyle/>
          <a:p>
            <a:r>
              <a:rPr lang="en-IN" dirty="0"/>
              <a:t>GitHub Repo : </a:t>
            </a:r>
            <a:r>
              <a:rPr lang="en-IN" dirty="0">
                <a:hlinkClick r:id="rId3"/>
              </a:rPr>
              <a:t>https://github.com/RoopinNayak/Stock-Master-Sentinel</a:t>
            </a:r>
            <a:br>
              <a:rPr lang="en-IN" dirty="0">
                <a:hlinkClick r:id="rId4"/>
              </a:rPr>
            </a:br>
            <a:endParaRPr lang="en-IN" dirty="0"/>
          </a:p>
          <a:p>
            <a:r>
              <a:rPr lang="en-IN" dirty="0"/>
              <a:t>Demo Link : </a:t>
            </a:r>
            <a:r>
              <a:rPr lang="en-IN" dirty="0">
                <a:hlinkClick r:id="rId5"/>
              </a:rPr>
              <a:t>https://youtu.be/nqIp8znYzdo</a:t>
            </a:r>
            <a:br>
              <a:rPr lang="en-IN" dirty="0"/>
            </a:br>
            <a:endParaRPr lang="en-IN" dirty="0"/>
          </a:p>
          <a:p>
            <a:r>
              <a:rPr lang="en-IN" dirty="0"/>
              <a:t>Document submitted ✔</a:t>
            </a:r>
          </a:p>
        </p:txBody>
      </p:sp>
    </p:spTree>
    <p:extLst>
      <p:ext uri="{BB962C8B-B14F-4D97-AF65-F5344CB8AC3E}">
        <p14:creationId xmlns:p14="http://schemas.microsoft.com/office/powerpoint/2010/main" val="1098279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740496"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731165" y="685997"/>
            <a:ext cx="10972800" cy="853440"/>
          </a:xfrm>
          <a:prstGeom prst="rect">
            <a:avLst/>
          </a:prstGeom>
          <a:noFill/>
          <a:ln/>
        </p:spPr>
        <p:txBody>
          <a:bodyPr wrap="square" lIns="0" tIns="0" rIns="0" bIns="0" rtlCol="0" anchor="ctr"/>
          <a:lstStyle/>
          <a:p>
            <a:r>
              <a:rPr lang="en-IN" sz="2800" dirty="0"/>
              <a:t>Self-Healing Architecture</a:t>
            </a:r>
            <a:endParaRPr lang="en-US" sz="2800"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83225" y="1832235"/>
            <a:ext cx="7106549" cy="1477328"/>
          </a:xfrm>
          <a:prstGeom prst="rect">
            <a:avLst/>
          </a:prstGeom>
          <a:noFill/>
        </p:spPr>
        <p:txBody>
          <a:bodyPr wrap="square" rtlCol="0">
            <a:spAutoFit/>
          </a:bodyPr>
          <a:lstStyle/>
          <a:p>
            <a:r>
              <a:rPr lang="en-US" dirty="0"/>
              <a:t>Built with enterprise resilience in mind. If the backend Spring Boot API temporarily goes down or returns 500 errors, the agent's heartbeat logic detects the failure, survives the crash, and issues a "Nervous System offline" health alert via Discord instead of breaking.</a:t>
            </a:r>
          </a:p>
          <a:p>
            <a:endParaRPr lang="en-IN" dirty="0"/>
          </a:p>
        </p:txBody>
      </p:sp>
    </p:spTree>
    <p:extLst>
      <p:ext uri="{BB962C8B-B14F-4D97-AF65-F5344CB8AC3E}">
        <p14:creationId xmlns:p14="http://schemas.microsoft.com/office/powerpoint/2010/main" val="2308232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1688</Words>
  <Application>Microsoft Office PowerPoint</Application>
  <PresentationFormat>Widescreen</PresentationFormat>
  <Paragraphs>111</Paragraphs>
  <Slides>14</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Berlin Sans FB Demi</vt:lpstr>
      <vt:lpstr>Calibri</vt:lpstr>
      <vt:lpstr>Calibri Light</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Aditya Hegde</cp:lastModifiedBy>
  <cp:revision>10</cp:revision>
  <dcterms:created xsi:type="dcterms:W3CDTF">2026-04-27T09:11:02Z</dcterms:created>
  <dcterms:modified xsi:type="dcterms:W3CDTF">2026-05-08T15:13:20Z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